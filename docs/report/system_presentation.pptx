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8" r:id="rId2"/>
  </p:sldIdLst>
  <p:sldSz cx="14630400" cy="8229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9" d="100"/>
          <a:sy n="79" d="100"/>
        </p:scale>
        <p:origin x="132" y="34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371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565C0"/>
                </a:solidFill>
              </a:defRPr>
            </a:pPr>
            <a:r>
              <a:t>🔄 システムフロー概要</a:t>
            </a:r>
          </a:p>
        </p:txBody>
      </p:sp>
      <p:grpSp>
        <p:nvGrpSpPr>
          <p:cNvPr id="25" name="グループ化 24">
            <a:extLst>
              <a:ext uri="{FF2B5EF4-FFF2-40B4-BE49-F238E27FC236}">
                <a16:creationId xmlns:a16="http://schemas.microsoft.com/office/drawing/2014/main" id="{3F7B0367-C554-522A-F059-8DEF3957BE69}"/>
              </a:ext>
            </a:extLst>
          </p:cNvPr>
          <p:cNvGrpSpPr/>
          <p:nvPr/>
        </p:nvGrpSpPr>
        <p:grpSpPr>
          <a:xfrm>
            <a:off x="731520" y="1371600"/>
            <a:ext cx="13167360" cy="6358128"/>
            <a:chOff x="731520" y="1371600"/>
            <a:chExt cx="13167360" cy="5029200"/>
          </a:xfrm>
        </p:grpSpPr>
        <p:sp>
          <p:nvSpPr>
            <p:cNvPr id="3" name="Rounded Rectangle 2"/>
            <p:cNvSpPr/>
            <p:nvPr/>
          </p:nvSpPr>
          <p:spPr>
            <a:xfrm>
              <a:off x="731520" y="1371600"/>
              <a:ext cx="3200400" cy="5029200"/>
            </a:xfrm>
            <a:prstGeom prst="roundRect">
              <a:avLst>
                <a:gd name="adj" fmla="val 6000"/>
              </a:avLst>
            </a:prstGeom>
            <a:solidFill>
              <a:srgbClr val="E3F2FD"/>
            </a:solidFill>
            <a:ln w="25400">
              <a:solidFill>
                <a:srgbClr val="64646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>
                <a:defRPr sz="1600" b="1">
                  <a:solidFill>
                    <a:srgbClr val="323232"/>
                  </a:solidFill>
                </a:defRPr>
              </a:pPr>
              <a:r>
                <a:rPr dirty="0"/>
                <a:t>📥 </a:t>
              </a:r>
              <a:r>
                <a:rPr dirty="0" err="1"/>
                <a:t>入力</a:t>
              </a:r>
              <a:br>
                <a:rPr dirty="0"/>
              </a:br>
              <a:br>
                <a:rPr lang="ja-JP" altLang="en-US" dirty="0"/>
              </a:br>
              <a:r>
                <a:rPr dirty="0" err="1"/>
                <a:t>道路ネットワークデータ</a:t>
              </a:r>
              <a:endParaRPr lang="en-US" dirty="0"/>
            </a:p>
            <a:p>
              <a:pPr>
                <a:spcAft>
                  <a:spcPts val="600"/>
                </a:spcAft>
                <a:defRPr sz="1300">
                  <a:solidFill>
                    <a:srgbClr val="424242"/>
                  </a:solidFill>
                </a:defRPr>
              </a:pPr>
              <a:r>
                <a:rPr lang="en-US" altLang="ja-JP" dirty="0"/>
                <a:t>• </a:t>
              </a:r>
              <a:r>
                <a:rPr lang="ja-JP" altLang="en-US" dirty="0"/>
                <a:t>ファイル</a:t>
              </a:r>
              <a:r>
                <a:rPr lang="en-US" altLang="ja-JP" dirty="0"/>
                <a:t>: </a:t>
              </a:r>
              <a:r>
                <a:rPr lang="en-US" altLang="ja-JP" dirty="0" err="1"/>
                <a:t>road_network</a:t>
              </a:r>
              <a:r>
                <a:rPr lang="en-US" altLang="ja-JP" dirty="0"/>
                <a:t>_*.</a:t>
              </a:r>
              <a:r>
                <a:rPr lang="en-US" altLang="ja-JP" dirty="0" err="1"/>
                <a:t>json</a:t>
              </a:r>
              <a:endParaRPr lang="ja-JP" altLang="en-US" dirty="0"/>
            </a:p>
            <a:p>
              <a:pPr>
                <a:spcAft>
                  <a:spcPts val="600"/>
                </a:spcAft>
                <a:defRPr sz="1300">
                  <a:solidFill>
                    <a:srgbClr val="424242"/>
                  </a:solidFill>
                </a:defRPr>
              </a:pPr>
              <a:r>
                <a:rPr lang="en-US" altLang="ja-JP" dirty="0"/>
                <a:t>• </a:t>
              </a:r>
              <a:r>
                <a:rPr lang="ja-JP" altLang="en-US" dirty="0"/>
                <a:t>ノード情報（地点</a:t>
              </a:r>
              <a:r>
                <a:rPr lang="en-US" altLang="ja-JP" dirty="0"/>
                <a:t>ID</a:t>
              </a:r>
              <a:r>
                <a:rPr lang="ja-JP" altLang="en-US" dirty="0"/>
                <a:t>、緯度経度）</a:t>
              </a:r>
            </a:p>
            <a:p>
              <a:pPr>
                <a:spcAft>
                  <a:spcPts val="600"/>
                </a:spcAft>
                <a:defRPr sz="1300">
                  <a:solidFill>
                    <a:srgbClr val="424242"/>
                  </a:solidFill>
                </a:defRPr>
              </a:pPr>
              <a:r>
                <a:rPr lang="en-US" altLang="ja-JP" dirty="0"/>
                <a:t>• </a:t>
              </a:r>
              <a:r>
                <a:rPr lang="ja-JP" altLang="en-US" dirty="0"/>
                <a:t>エッジ情報（道路接続、距離）</a:t>
              </a:r>
            </a:p>
            <a:p>
              <a:pPr>
                <a:spcAft>
                  <a:spcPts val="600"/>
                </a:spcAft>
                <a:defRPr sz="1300">
                  <a:solidFill>
                    <a:srgbClr val="424242"/>
                  </a:solidFill>
                </a:defRPr>
              </a:pPr>
              <a:r>
                <a:rPr lang="en-US" altLang="ja-JP" dirty="0"/>
                <a:t>• </a:t>
              </a:r>
              <a:r>
                <a:rPr lang="ja-JP" altLang="en-US" dirty="0"/>
                <a:t>メタデータ</a:t>
              </a:r>
            </a:p>
            <a:p>
              <a:pPr>
                <a:defRPr sz="1600" b="1">
                  <a:solidFill>
                    <a:srgbClr val="323232"/>
                  </a:solidFill>
                </a:defRPr>
              </a:pPr>
              <a:br>
                <a:rPr dirty="0"/>
              </a:br>
              <a:r>
                <a:rPr dirty="0" err="1"/>
                <a:t>マスタデータ（資源・車種</a:t>
              </a:r>
              <a:r>
                <a:rPr dirty="0"/>
                <a:t>）</a:t>
              </a:r>
              <a:endParaRPr lang="en-US" dirty="0"/>
            </a:p>
            <a:p>
              <a:pPr>
                <a:spcAft>
                  <a:spcPts val="600"/>
                </a:spcAft>
                <a:defRPr sz="1300">
                  <a:solidFill>
                    <a:srgbClr val="424242"/>
                  </a:solidFill>
                </a:defRPr>
              </a:pPr>
              <a:r>
                <a:rPr lang="en-US" altLang="ja-JP" dirty="0"/>
                <a:t>• </a:t>
              </a:r>
              <a:r>
                <a:rPr lang="en-US" altLang="ja-JP" dirty="0" err="1"/>
                <a:t>resources.json</a:t>
              </a:r>
              <a:r>
                <a:rPr lang="en-US" altLang="ja-JP" dirty="0"/>
                <a:t>: </a:t>
              </a:r>
              <a:r>
                <a:rPr lang="ja-JP" altLang="en-US" dirty="0"/>
                <a:t>資源種別</a:t>
              </a:r>
            </a:p>
            <a:p>
              <a:pPr>
                <a:spcAft>
                  <a:spcPts val="600"/>
                </a:spcAft>
                <a:defRPr sz="1300">
                  <a:solidFill>
                    <a:srgbClr val="424242"/>
                  </a:solidFill>
                </a:defRPr>
              </a:pPr>
              <a:r>
                <a:rPr lang="en-US" altLang="ja-JP" dirty="0"/>
                <a:t>• </a:t>
              </a:r>
              <a:r>
                <a:rPr lang="en-US" altLang="ja-JP" dirty="0" err="1"/>
                <a:t>vehicles.json</a:t>
              </a:r>
              <a:r>
                <a:rPr lang="en-US" altLang="ja-JP" dirty="0"/>
                <a:t>: </a:t>
              </a:r>
              <a:r>
                <a:rPr lang="ja-JP" altLang="en-US" dirty="0"/>
                <a:t>車種情報</a:t>
              </a:r>
            </a:p>
            <a:p>
              <a:pPr>
                <a:spcAft>
                  <a:spcPts val="600"/>
                </a:spcAft>
                <a:defRPr sz="1300">
                  <a:solidFill>
                    <a:srgbClr val="424242"/>
                  </a:solidFill>
                </a:defRPr>
              </a:pPr>
              <a:r>
                <a:rPr lang="en-US" altLang="ja-JP" dirty="0"/>
                <a:t>• </a:t>
              </a:r>
              <a:r>
                <a:rPr lang="en-US" altLang="ja-JP" dirty="0" err="1"/>
                <a:t>compatibility.json</a:t>
              </a:r>
              <a:r>
                <a:rPr lang="en-US" altLang="ja-JP" dirty="0"/>
                <a:t>: </a:t>
              </a:r>
              <a:r>
                <a:rPr lang="ja-JP" altLang="en-US" dirty="0"/>
                <a:t>適合性</a:t>
              </a:r>
            </a:p>
            <a:p>
              <a:pPr>
                <a:spcAft>
                  <a:spcPts val="600"/>
                </a:spcAft>
                <a:defRPr sz="1300">
                  <a:solidFill>
                    <a:srgbClr val="424242"/>
                  </a:solidFill>
                </a:defRPr>
              </a:pPr>
              <a:r>
                <a:rPr lang="en-US" altLang="ja-JP" dirty="0"/>
                <a:t>• </a:t>
              </a:r>
              <a:r>
                <a:rPr lang="ja-JP" altLang="en-US" dirty="0"/>
                <a:t>嵩密度、コスト、制約条件</a:t>
              </a:r>
            </a:p>
            <a:p>
              <a:pPr>
                <a:defRPr sz="1600" b="1">
                  <a:solidFill>
                    <a:srgbClr val="323232"/>
                  </a:solidFill>
                </a:defRPr>
              </a:pPr>
              <a:br>
                <a:rPr dirty="0"/>
              </a:br>
              <a:r>
                <a:rPr dirty="0" err="1"/>
                <a:t>ユーザー選択（地点・量</a:t>
              </a:r>
              <a:r>
                <a:rPr dirty="0"/>
                <a:t>）</a:t>
              </a:r>
              <a:endParaRPr lang="en-US" dirty="0"/>
            </a:p>
            <a:p>
              <a:pPr>
                <a:spcAft>
                  <a:spcPts val="600"/>
                </a:spcAft>
                <a:defRPr sz="1300">
                  <a:solidFill>
                    <a:srgbClr val="424242"/>
                  </a:solidFill>
                </a:defRPr>
              </a:pPr>
              <a:r>
                <a:rPr lang="en-US" altLang="ja-JP" dirty="0"/>
                <a:t>• </a:t>
              </a:r>
              <a:r>
                <a:rPr lang="ja-JP" altLang="en-US" dirty="0"/>
                <a:t>車庫地点（出発・帰着）</a:t>
              </a:r>
            </a:p>
            <a:p>
              <a:pPr>
                <a:spcAft>
                  <a:spcPts val="600"/>
                </a:spcAft>
                <a:defRPr sz="1300">
                  <a:solidFill>
                    <a:srgbClr val="424242"/>
                  </a:solidFill>
                </a:defRPr>
              </a:pPr>
              <a:r>
                <a:rPr lang="en-US" altLang="ja-JP" dirty="0"/>
                <a:t>• </a:t>
              </a:r>
              <a:r>
                <a:rPr lang="ja-JP" altLang="en-US" dirty="0"/>
                <a:t>回収地点（複数地点）</a:t>
              </a:r>
            </a:p>
            <a:p>
              <a:pPr>
                <a:spcAft>
                  <a:spcPts val="600"/>
                </a:spcAft>
                <a:defRPr sz="1300">
                  <a:solidFill>
                    <a:srgbClr val="424242"/>
                  </a:solidFill>
                </a:defRPr>
              </a:pPr>
              <a:r>
                <a:rPr lang="en-US" altLang="ja-JP" dirty="0"/>
                <a:t>• </a:t>
              </a:r>
              <a:r>
                <a:rPr lang="ja-JP" altLang="en-US" dirty="0"/>
                <a:t>各地点の資源種別</a:t>
              </a:r>
            </a:p>
            <a:p>
              <a:pPr>
                <a:spcAft>
                  <a:spcPts val="600"/>
                </a:spcAft>
                <a:defRPr sz="1300">
                  <a:solidFill>
                    <a:srgbClr val="424242"/>
                  </a:solidFill>
                </a:defRPr>
              </a:pPr>
              <a:r>
                <a:rPr lang="en-US" altLang="ja-JP" dirty="0"/>
                <a:t>• </a:t>
              </a:r>
              <a:r>
                <a:rPr lang="ja-JP" altLang="en-US" dirty="0"/>
                <a:t>各地点の回収量</a:t>
              </a:r>
              <a:r>
                <a:rPr lang="en-US" altLang="ja-JP" dirty="0"/>
                <a:t>[kg]</a:t>
              </a:r>
            </a:p>
            <a:p>
              <a:pPr>
                <a:spcAft>
                  <a:spcPts val="600"/>
                </a:spcAft>
                <a:defRPr sz="1300">
                  <a:solidFill>
                    <a:srgbClr val="424242"/>
                  </a:solidFill>
                </a:defRPr>
              </a:pPr>
              <a:r>
                <a:rPr lang="en-US" altLang="ja-JP" dirty="0"/>
                <a:t>• </a:t>
              </a:r>
              <a:r>
                <a:rPr lang="ja-JP" altLang="en-US" dirty="0"/>
                <a:t>集積場所（終点）</a:t>
              </a:r>
            </a:p>
            <a:p>
              <a:pPr>
                <a:defRPr sz="1600" b="1">
                  <a:solidFill>
                    <a:srgbClr val="323232"/>
                  </a:solidFill>
                </a:defRPr>
              </a:pPr>
              <a:endParaRPr dirty="0"/>
            </a:p>
          </p:txBody>
        </p:sp>
        <p:sp>
          <p:nvSpPr>
            <p:cNvPr id="4" name="Rounded Rectangle 3"/>
            <p:cNvSpPr/>
            <p:nvPr/>
          </p:nvSpPr>
          <p:spPr>
            <a:xfrm>
              <a:off x="5029200" y="1645920"/>
              <a:ext cx="3657600" cy="640080"/>
            </a:xfrm>
            <a:prstGeom prst="roundRect">
              <a:avLst/>
            </a:prstGeom>
            <a:solidFill>
              <a:srgbClr val="FFF3E0"/>
            </a:solidFill>
            <a:ln w="25400">
              <a:solidFill>
                <a:srgbClr val="64646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defRPr sz="1400" b="1">
                  <a:solidFill>
                    <a:srgbClr val="323232"/>
                  </a:solidFill>
                </a:defRPr>
              </a:pPr>
              <a:r>
                <a:t>1. データ読込・初期化</a:t>
              </a:r>
            </a:p>
          </p:txBody>
        </p:sp>
        <p:cxnSp>
          <p:nvCxnSpPr>
            <p:cNvPr id="5" name="Connector 4"/>
            <p:cNvCxnSpPr>
              <a:cxnSpLocks/>
            </p:cNvCxnSpPr>
            <p:nvPr/>
          </p:nvCxnSpPr>
          <p:spPr>
            <a:xfrm>
              <a:off x="6858000" y="2286000"/>
              <a:ext cx="0" cy="137160"/>
            </a:xfrm>
            <a:prstGeom prst="line">
              <a:avLst/>
            </a:prstGeom>
            <a:ln w="38100">
              <a:solidFill>
                <a:srgbClr val="F57C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Rounded Rectangle 5"/>
            <p:cNvSpPr/>
            <p:nvPr/>
          </p:nvSpPr>
          <p:spPr>
            <a:xfrm>
              <a:off x="5029200" y="2423160"/>
              <a:ext cx="3657600" cy="640080"/>
            </a:xfrm>
            <a:prstGeom prst="roundRect">
              <a:avLst/>
            </a:prstGeom>
            <a:solidFill>
              <a:srgbClr val="FFF3E0"/>
            </a:solidFill>
            <a:ln w="25400">
              <a:solidFill>
                <a:srgbClr val="64646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defRPr sz="1400" b="1">
                  <a:solidFill>
                    <a:srgbClr val="323232"/>
                  </a:solidFill>
                </a:defRPr>
              </a:pPr>
              <a:r>
                <a:t>2. 地点選択（UI）</a:t>
              </a:r>
            </a:p>
          </p:txBody>
        </p:sp>
        <p:cxnSp>
          <p:nvCxnSpPr>
            <p:cNvPr id="7" name="Connector 6"/>
            <p:cNvCxnSpPr>
              <a:cxnSpLocks/>
            </p:cNvCxnSpPr>
            <p:nvPr/>
          </p:nvCxnSpPr>
          <p:spPr>
            <a:xfrm>
              <a:off x="6858000" y="3063239"/>
              <a:ext cx="0" cy="137161"/>
            </a:xfrm>
            <a:prstGeom prst="line">
              <a:avLst/>
            </a:prstGeom>
            <a:ln w="38100">
              <a:solidFill>
                <a:srgbClr val="F57C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Rounded Rectangle 7"/>
            <p:cNvSpPr/>
            <p:nvPr/>
          </p:nvSpPr>
          <p:spPr>
            <a:xfrm>
              <a:off x="5029200" y="3200400"/>
              <a:ext cx="3657600" cy="640080"/>
            </a:xfrm>
            <a:prstGeom prst="roundRect">
              <a:avLst/>
            </a:prstGeom>
            <a:solidFill>
              <a:srgbClr val="FFF3E0"/>
            </a:solidFill>
            <a:ln w="25400">
              <a:solidFill>
                <a:srgbClr val="64646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defRPr sz="1400" b="1">
                  <a:solidFill>
                    <a:srgbClr val="323232"/>
                  </a:solidFill>
                </a:defRPr>
              </a:pPr>
              <a:r>
                <a:t>3. 車種割当</a:t>
              </a:r>
            </a:p>
          </p:txBody>
        </p:sp>
        <p:cxnSp>
          <p:nvCxnSpPr>
            <p:cNvPr id="9" name="Connector 8"/>
            <p:cNvCxnSpPr>
              <a:cxnSpLocks/>
            </p:cNvCxnSpPr>
            <p:nvPr/>
          </p:nvCxnSpPr>
          <p:spPr>
            <a:xfrm>
              <a:off x="6858000" y="3840480"/>
              <a:ext cx="0" cy="137159"/>
            </a:xfrm>
            <a:prstGeom prst="line">
              <a:avLst/>
            </a:prstGeom>
            <a:ln w="38100">
              <a:solidFill>
                <a:srgbClr val="F57C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Rounded Rectangle 9"/>
            <p:cNvSpPr/>
            <p:nvPr/>
          </p:nvSpPr>
          <p:spPr>
            <a:xfrm>
              <a:off x="5029200" y="3977639"/>
              <a:ext cx="3657600" cy="640080"/>
            </a:xfrm>
            <a:prstGeom prst="roundRect">
              <a:avLst/>
            </a:prstGeom>
            <a:solidFill>
              <a:srgbClr val="FFF3E0"/>
            </a:solidFill>
            <a:ln w="25400">
              <a:solidFill>
                <a:srgbClr val="64646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defRPr sz="1400" b="1">
                  <a:solidFill>
                    <a:srgbClr val="323232"/>
                  </a:solidFill>
                </a:defRPr>
              </a:pPr>
              <a:r>
                <a:t>4. 距離行列計算</a:t>
              </a:r>
            </a:p>
          </p:txBody>
        </p:sp>
        <p:cxnSp>
          <p:nvCxnSpPr>
            <p:cNvPr id="11" name="Connector 10"/>
            <p:cNvCxnSpPr>
              <a:cxnSpLocks/>
            </p:cNvCxnSpPr>
            <p:nvPr/>
          </p:nvCxnSpPr>
          <p:spPr>
            <a:xfrm>
              <a:off x="6858000" y="4617720"/>
              <a:ext cx="0" cy="137160"/>
            </a:xfrm>
            <a:prstGeom prst="line">
              <a:avLst/>
            </a:prstGeom>
            <a:ln w="38100">
              <a:solidFill>
                <a:srgbClr val="F57C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Rounded Rectangle 11"/>
            <p:cNvSpPr/>
            <p:nvPr/>
          </p:nvSpPr>
          <p:spPr>
            <a:xfrm>
              <a:off x="5029200" y="4754880"/>
              <a:ext cx="3657600" cy="640080"/>
            </a:xfrm>
            <a:prstGeom prst="roundRect">
              <a:avLst/>
            </a:prstGeom>
            <a:solidFill>
              <a:srgbClr val="FFF3E0"/>
            </a:solidFill>
            <a:ln w="25400">
              <a:solidFill>
                <a:srgbClr val="64646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defRPr sz="1400" b="1">
                  <a:solidFill>
                    <a:srgbClr val="323232"/>
                  </a:solidFill>
                </a:defRPr>
              </a:pPr>
              <a:r>
                <a:t>5. ルート最適化</a:t>
              </a:r>
            </a:p>
          </p:txBody>
        </p:sp>
        <p:cxnSp>
          <p:nvCxnSpPr>
            <p:cNvPr id="13" name="Connector 12"/>
            <p:cNvCxnSpPr>
              <a:cxnSpLocks/>
            </p:cNvCxnSpPr>
            <p:nvPr/>
          </p:nvCxnSpPr>
          <p:spPr>
            <a:xfrm>
              <a:off x="6858000" y="5394960"/>
              <a:ext cx="0" cy="137160"/>
            </a:xfrm>
            <a:prstGeom prst="line">
              <a:avLst/>
            </a:prstGeom>
            <a:ln w="38100">
              <a:solidFill>
                <a:srgbClr val="F57C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Rounded Rectangle 13"/>
            <p:cNvSpPr/>
            <p:nvPr/>
          </p:nvSpPr>
          <p:spPr>
            <a:xfrm>
              <a:off x="5029200" y="5532120"/>
              <a:ext cx="3657600" cy="640080"/>
            </a:xfrm>
            <a:prstGeom prst="roundRect">
              <a:avLst/>
            </a:prstGeom>
            <a:solidFill>
              <a:srgbClr val="FFF3E0"/>
            </a:solidFill>
            <a:ln w="25400">
              <a:solidFill>
                <a:srgbClr val="64646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defRPr sz="1400" b="1">
                  <a:solidFill>
                    <a:srgbClr val="323232"/>
                  </a:solidFill>
                </a:defRPr>
              </a:pPr>
              <a:r>
                <a:t>6. 結果生成</a:t>
              </a:r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10515600" y="1371600"/>
              <a:ext cx="3383280" cy="5029200"/>
            </a:xfrm>
            <a:prstGeom prst="roundRect">
              <a:avLst>
                <a:gd name="adj" fmla="val 5856"/>
              </a:avLst>
            </a:prstGeom>
            <a:solidFill>
              <a:srgbClr val="E8F5E9"/>
            </a:solidFill>
            <a:ln w="25400">
              <a:solidFill>
                <a:srgbClr val="64646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>
                <a:defRPr sz="1600" b="1">
                  <a:solidFill>
                    <a:srgbClr val="323232"/>
                  </a:solidFill>
                </a:defRPr>
              </a:pPr>
              <a:r>
                <a:rPr dirty="0"/>
                <a:t>📤 </a:t>
              </a:r>
              <a:r>
                <a:rPr dirty="0" err="1"/>
                <a:t>出力</a:t>
              </a:r>
              <a:br>
                <a:rPr dirty="0"/>
              </a:br>
              <a:endParaRPr lang="en-US" dirty="0"/>
            </a:p>
            <a:p>
              <a:pPr>
                <a:defRPr sz="1600" b="1">
                  <a:solidFill>
                    <a:srgbClr val="323232"/>
                  </a:solidFill>
                </a:defRPr>
              </a:pPr>
              <a:br>
                <a:rPr dirty="0"/>
              </a:br>
              <a:r>
                <a:rPr dirty="0" err="1"/>
                <a:t>最適ルート情報</a:t>
              </a:r>
              <a:br>
                <a:rPr dirty="0"/>
              </a:br>
              <a:endParaRPr lang="en-US" dirty="0"/>
            </a:p>
            <a:p>
              <a:pPr>
                <a:defRPr sz="1600" b="1">
                  <a:solidFill>
                    <a:srgbClr val="323232"/>
                  </a:solidFill>
                </a:defRPr>
              </a:pPr>
              <a:br>
                <a:rPr dirty="0"/>
              </a:br>
              <a:r>
                <a:rPr dirty="0" err="1"/>
                <a:t>コスト詳細（固定費・変動費</a:t>
              </a:r>
              <a:r>
                <a:rPr dirty="0"/>
                <a:t>）</a:t>
              </a:r>
              <a:br>
                <a:rPr dirty="0"/>
              </a:br>
              <a:endParaRPr lang="en-US" dirty="0"/>
            </a:p>
            <a:p>
              <a:pPr>
                <a:defRPr sz="1600" b="1">
                  <a:solidFill>
                    <a:srgbClr val="323232"/>
                  </a:solidFill>
                </a:defRPr>
              </a:pPr>
              <a:br>
                <a:rPr dirty="0"/>
              </a:br>
              <a:r>
                <a:rPr dirty="0" err="1"/>
                <a:t>エネルギー消費量</a:t>
              </a:r>
              <a:br>
                <a:rPr dirty="0"/>
              </a:br>
              <a:endParaRPr lang="en-US" dirty="0"/>
            </a:p>
            <a:p>
              <a:pPr>
                <a:defRPr sz="1600" b="1">
                  <a:solidFill>
                    <a:srgbClr val="323232"/>
                  </a:solidFill>
                </a:defRPr>
              </a:pPr>
              <a:br>
                <a:rPr dirty="0"/>
              </a:br>
              <a:r>
                <a:rPr dirty="0" err="1"/>
                <a:t>地図表示</a:t>
              </a:r>
              <a:endParaRPr dirty="0"/>
            </a:p>
          </p:txBody>
        </p:sp>
        <p:cxnSp>
          <p:nvCxnSpPr>
            <p:cNvPr id="16" name="Connector 15"/>
            <p:cNvCxnSpPr>
              <a:cxnSpLocks/>
            </p:cNvCxnSpPr>
            <p:nvPr/>
          </p:nvCxnSpPr>
          <p:spPr>
            <a:xfrm>
              <a:off x="3931920" y="3657600"/>
              <a:ext cx="1097280" cy="0"/>
            </a:xfrm>
            <a:prstGeom prst="line">
              <a:avLst/>
            </a:prstGeom>
            <a:ln w="38100">
              <a:solidFill>
                <a:srgbClr val="64646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nector 16"/>
            <p:cNvCxnSpPr>
              <a:cxnSpLocks/>
            </p:cNvCxnSpPr>
            <p:nvPr/>
          </p:nvCxnSpPr>
          <p:spPr>
            <a:xfrm>
              <a:off x="8686800" y="3657600"/>
              <a:ext cx="1828800" cy="0"/>
            </a:xfrm>
            <a:prstGeom prst="line">
              <a:avLst/>
            </a:prstGeom>
            <a:ln w="38100">
              <a:solidFill>
                <a:srgbClr val="64646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153</Words>
  <Application>Microsoft Office PowerPoint</Application>
  <PresentationFormat>ユーザー設定</PresentationFormat>
  <Paragraphs>28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プレゼンテーション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ta koba</cp:lastModifiedBy>
  <cp:revision>4</cp:revision>
  <dcterms:created xsi:type="dcterms:W3CDTF">2013-01-27T09:14:16Z</dcterms:created>
  <dcterms:modified xsi:type="dcterms:W3CDTF">2025-11-28T08:56:31Z</dcterms:modified>
  <cp:category/>
</cp:coreProperties>
</file>