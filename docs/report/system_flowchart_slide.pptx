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565C0"/>
                </a:solidFill>
              </a:defRPr>
            </a:pPr>
            <a:r>
              <a:t>資源回収ルート最適化システム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システムフロー概要図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3898880" cy="621792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1976D2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201168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0"/>
              </a:spcAft>
              <a:defRPr sz="2400" b="1">
                <a:solidFill>
                  <a:srgbClr val="0D47A1"/>
                </a:solidFill>
              </a:defRPr>
            </a:pPr>
            <a:r>
              <a:t>📥 入力</a:t>
            </a:r>
          </a:p>
          <a:p>
            <a:pPr algn="l">
              <a:spcAft>
                <a:spcPts val="500"/>
              </a:spcAft>
              <a:defRPr sz="1400">
                <a:solidFill>
                  <a:srgbClr val="1565C0"/>
                </a:solidFill>
              </a:defRPr>
            </a:pPr>
            <a:r>
              <a:t>● 道路ネットワークデータ</a:t>
            </a:r>
          </a:p>
          <a:p>
            <a:pPr algn="l">
              <a:spcAft>
                <a:spcPts val="500"/>
              </a:spcAft>
              <a:defRPr sz="1400">
                <a:solidFill>
                  <a:srgbClr val="1565C0"/>
                </a:solidFill>
              </a:defRPr>
            </a:pPr>
            <a:r>
              <a:t>● マスタデータ</a:t>
            </a:r>
          </a:p>
          <a:p>
            <a:pPr algn="l">
              <a:spcAft>
                <a:spcPts val="500"/>
              </a:spcAft>
              <a:defRPr sz="1400">
                <a:solidFill>
                  <a:srgbClr val="1565C0"/>
                </a:solidFill>
              </a:defRPr>
            </a:pPr>
            <a:r>
              <a:t>● ユーザー選択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1. データ読込・初期化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2057400"/>
            <a:ext cx="0" cy="73152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130552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2. 地点選択（UI操作）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724912"/>
            <a:ext cx="0" cy="73152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2798064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3. 車種割当プラン生成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3392424"/>
            <a:ext cx="0" cy="73152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3465576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4. 距離行列計算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4059936"/>
            <a:ext cx="0" cy="73151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4133087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5. ルート最適化（VRP）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4727448"/>
            <a:ext cx="0" cy="73152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4800600"/>
            <a:ext cx="2743200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6. 結果生成・可視化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2344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⚙️ 処理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463040"/>
            <a:ext cx="3200400" cy="201168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0"/>
              </a:spcAft>
              <a:defRPr sz="2400" b="1">
                <a:solidFill>
                  <a:srgbClr val="1B5E20"/>
                </a:solidFill>
              </a:defRPr>
            </a:pPr>
            <a:r>
              <a:t>📤 出力</a:t>
            </a:r>
          </a:p>
          <a:p>
            <a:pPr algn="l">
              <a:spcAft>
                <a:spcPts val="500"/>
              </a:spcAft>
              <a:defRPr sz="1400">
                <a:solidFill>
                  <a:srgbClr val="2E7D32"/>
                </a:solidFill>
              </a:defRPr>
            </a:pPr>
            <a:r>
              <a:t>● 最適ルート情報</a:t>
            </a:r>
          </a:p>
          <a:p>
            <a:pPr algn="l">
              <a:spcAft>
                <a:spcPts val="500"/>
              </a:spcAft>
              <a:defRPr sz="1400">
                <a:solidFill>
                  <a:srgbClr val="2E7D32"/>
                </a:solidFill>
              </a:defRPr>
            </a:pPr>
            <a:r>
              <a:t>● コスト詳細</a:t>
            </a:r>
          </a:p>
          <a:p>
            <a:pPr algn="l">
              <a:spcAft>
                <a:spcPts val="500"/>
              </a:spcAft>
              <a:defRPr sz="1400">
                <a:solidFill>
                  <a:srgbClr val="2E7D32"/>
                </a:solidFill>
              </a:defRPr>
            </a:pPr>
            <a:r>
              <a:t>● エネルギー消費量</a:t>
            </a:r>
          </a:p>
          <a:p>
            <a:pPr algn="l">
              <a:spcAft>
                <a:spcPts val="500"/>
              </a:spcAft>
              <a:defRPr sz="1400">
                <a:solidFill>
                  <a:srgbClr val="2E7D32"/>
                </a:solidFill>
              </a:defRPr>
            </a:pPr>
            <a:r>
              <a:t>● 地図表示・分析結果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2468880"/>
            <a:ext cx="457200" cy="0"/>
          </a:xfrm>
          <a:prstGeom prst="line">
            <a:avLst/>
          </a:prstGeom>
          <a:ln w="508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0" y="2468880"/>
            <a:ext cx="457200" cy="0"/>
          </a:xfrm>
          <a:prstGeom prst="line">
            <a:avLst/>
          </a:prstGeom>
          <a:ln w="508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3840480"/>
            <a:ext cx="3200400" cy="2286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4A148C"/>
                </a:solidFill>
              </a:defRPr>
            </a:pPr>
            <a:r>
              <a:t>💾 データ格納層</a:t>
            </a:r>
          </a:p>
          <a:p>
            <a:pPr>
              <a:spcAft>
                <a:spcPts val="300"/>
              </a:spcAft>
              <a:defRPr sz="1200">
                <a:solidFill>
                  <a:srgbClr val="6A1B9A"/>
                </a:solidFill>
              </a:defRPr>
            </a:pPr>
            <a:r>
              <a:t>● NetworkXグラフ</a:t>
            </a:r>
          </a:p>
          <a:p>
            <a:pPr>
              <a:spcAft>
                <a:spcPts val="300"/>
              </a:spcAft>
              <a:defRPr sz="1200">
                <a:solidFill>
                  <a:srgbClr val="6A1B9A"/>
                </a:solidFill>
              </a:defRPr>
            </a:pPr>
            <a:r>
              <a:t>● 地点レジストリ</a:t>
            </a:r>
          </a:p>
          <a:p>
            <a:pPr>
              <a:spcAft>
                <a:spcPts val="300"/>
              </a:spcAft>
              <a:defRPr sz="1200">
                <a:solidFill>
                  <a:srgbClr val="6A1B9A"/>
                </a:solidFill>
              </a:defRPr>
            </a:pPr>
            <a:r>
              <a:t>● 車種カタログ</a:t>
            </a:r>
          </a:p>
          <a:p>
            <a:pPr>
              <a:spcAft>
                <a:spcPts val="300"/>
              </a:spcAft>
              <a:defRPr sz="1200">
                <a:solidFill>
                  <a:srgbClr val="6A1B9A"/>
                </a:solidFill>
              </a:defRPr>
            </a:pPr>
            <a:r>
              <a:t>● 距離行列</a:t>
            </a:r>
          </a:p>
          <a:p>
            <a:pPr>
              <a:spcAft>
                <a:spcPts val="300"/>
              </a:spcAft>
              <a:defRPr sz="1200">
                <a:solidFill>
                  <a:srgbClr val="6A1B9A"/>
                </a:solidFill>
              </a:defRPr>
            </a:pPr>
            <a:r>
              <a:t>● 空間インデックス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840480"/>
            <a:ext cx="3200400" cy="22860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E65100"/>
                </a:solidFill>
              </a:defRPr>
            </a:pPr>
            <a:r>
              <a:t>🔧 技術スタック</a:t>
            </a:r>
          </a:p>
          <a:p>
            <a:pPr>
              <a:spcAft>
                <a:spcPts val="300"/>
              </a:spcAft>
              <a:defRPr sz="1200">
                <a:solidFill>
                  <a:srgbClr val="EF6C00"/>
                </a:solidFill>
              </a:defRPr>
            </a:pPr>
            <a:r>
              <a:t>● Streamlit（Webアプリ）</a:t>
            </a:r>
          </a:p>
          <a:p>
            <a:pPr>
              <a:spcAft>
                <a:spcPts val="300"/>
              </a:spcAft>
              <a:defRPr sz="1200">
                <a:solidFill>
                  <a:srgbClr val="EF6C00"/>
                </a:solidFill>
              </a:defRPr>
            </a:pPr>
            <a:r>
              <a:t>● NetworkX（グラフ処理）</a:t>
            </a:r>
          </a:p>
          <a:p>
            <a:pPr>
              <a:spcAft>
                <a:spcPts val="300"/>
              </a:spcAft>
              <a:defRPr sz="1200">
                <a:solidFill>
                  <a:srgbClr val="EF6C00"/>
                </a:solidFill>
              </a:defRPr>
            </a:pPr>
            <a:r>
              <a:t>● Folium（地図表示）</a:t>
            </a:r>
          </a:p>
          <a:p>
            <a:pPr>
              <a:spcAft>
                <a:spcPts val="300"/>
              </a:spcAft>
              <a:defRPr sz="1200">
                <a:solidFill>
                  <a:srgbClr val="EF6C00"/>
                </a:solidFill>
              </a:defRPr>
            </a:pPr>
            <a:r>
              <a:t>● Pandas（データ処理）</a:t>
            </a:r>
          </a:p>
          <a:p>
            <a:pPr>
              <a:spcAft>
                <a:spcPts val="500"/>
              </a:spcAft>
            </a:pPr>
          </a:p>
          <a:p>
            <a:pPr>
              <a:defRPr sz="1100" b="1">
                <a:solidFill>
                  <a:srgbClr val="D84315"/>
                </a:solidFill>
              </a:defRPr>
            </a:pPr>
            <a:r>
              <a:t>最適化: VRP（配送計画問題）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400800"/>
            <a:ext cx="10058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システムの特徴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✓ 地図クリックで直感的に地点選択   ✓ 資源と車種の適合性を自動チェック   ✓ 複数車両の同時最適化   ✓ 詳細なコスト・エネルギー分析   ✓ インタラクティブ地図でルート可視化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498079"/>
            <a:ext cx="1371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本システムは道路ネットワーク上での資源回収ルートを最適化し、コストとエネルギー消費を最小化します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